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xCNtKqUFrchtLym2WHsvmhUtH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f223f49e24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f223f49e24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f223f49e24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3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2D6A4F">
              <a:alpha val="40000"/>
            </a:srgbClr>
          </a:solidFill>
          <a:ln cap="flat" cmpd="sng" w="12700">
            <a:solidFill>
              <a:srgbClr val="2D6A4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858000" y="2926080"/>
            <a:ext cx="2743200" cy="2743200"/>
          </a:xfrm>
          <a:prstGeom prst="ellipse">
            <a:avLst/>
          </a:prstGeom>
          <a:solidFill>
            <a:srgbClr val="2D6A4F">
              <a:alpha val="34901"/>
            </a:srgbClr>
          </a:solidFill>
          <a:ln cap="flat" cmpd="sng" w="12700">
            <a:solidFill>
              <a:srgbClr val="2D6A4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772400" y="182880"/>
            <a:ext cx="1371600" cy="1371600"/>
          </a:xfrm>
          <a:prstGeom prst="ellipse">
            <a:avLst/>
          </a:prstGeom>
          <a:solidFill>
            <a:srgbClr val="52B788">
              <a:alpha val="45098"/>
            </a:srgbClr>
          </a:solidFill>
          <a:ln cap="flat" cmpd="sng" w="12700">
            <a:solidFill>
              <a:srgbClr val="52B78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502920" y="1005840"/>
            <a:ext cx="1188720" cy="1188720"/>
          </a:xfrm>
          <a:prstGeom prst="ellipse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502920" y="1005840"/>
            <a:ext cx="1188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♻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5486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BANK SAMPAH DIGITAL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1417320"/>
            <a:ext cx="68580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Perancangan &amp; Pembangunan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Website Bank Sampah Digital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288036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Menggunakan Metode Waterfall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57200" y="3429000"/>
            <a:ext cx="3657600" cy="4572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457200" y="361188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AB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8DABC"/>
                </a:solidFill>
                <a:latin typeface="Calibri"/>
                <a:ea typeface="Calibri"/>
                <a:cs typeface="Calibri"/>
                <a:sym typeface="Calibri"/>
              </a:rPr>
              <a:t>Sistem Informasi Berbasis Web untuk Pengelolaan Bank Sampah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AB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8DABC"/>
                </a:solidFill>
                <a:latin typeface="Calibri"/>
                <a:ea typeface="Calibri"/>
                <a:cs typeface="Calibri"/>
                <a:sym typeface="Calibri"/>
              </a:rPr>
              <a:t>di Kabupaten Banyumas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9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🌿  LATAR BELAKANG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274320" y="1188720"/>
            <a:ext cx="411480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411480" y="129844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🗑️  Masalah Sampah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11480" y="164592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Sampah masih menjadi tantangan besar dalam pengelolaan lingkungan berbasis masyarakat di Indonesia.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754880" y="1188720"/>
            <a:ext cx="411480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4892040" y="129844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🏦  Bank Sampah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892040" y="164592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Mekanisme tabungan sampah bernilai ekonomi yang mendukung ekonomi sirkular dan pemberdayaan masyarakat.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274320" y="2743200"/>
            <a:ext cx="411480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411480" y="285292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📋  Sistem Manual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11480" y="320040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Pencatatan konvensional berpotensi menimbulkan keterlambatan, ketidakteraturan data, dan rendahnya transparansi.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754880" y="2743200"/>
            <a:ext cx="411480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892040" y="285292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💻  Solusi Digital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892040" y="320040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Sistem berbasis web dapat mempercepat pencatatan, memudahkan pengelolaan data, dan meningkatkan keterlacakan transaksi.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274320" y="4251960"/>
            <a:ext cx="8595360" cy="64008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Dibutuhkan sistem terintegrasi yang menghubungkan administrasi, transaksi, dan monitoring dalam satu platform efisien &amp; transparan.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9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  TUJUAN &amp; MANFAAT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274320" y="1097280"/>
            <a:ext cx="4023360" cy="3474720"/>
          </a:xfrm>
          <a:prstGeom prst="roundRect">
            <a:avLst>
              <a:gd fmla="val 3158" name="adj"/>
            </a:avLst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274320" y="114300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TUJUAN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57200" y="1691640"/>
            <a:ext cx="256032" cy="256032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457200" y="169164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777240" y="1673352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Analisis kebutuhan sistem berdasarkan proses bisnis bank sampah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57200" y="2203704"/>
            <a:ext cx="256032" cy="256032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457200" y="220370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777240" y="2185416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Merancang sistem &amp; basis data dengan pendekatan Waterfall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57200" y="2715768"/>
            <a:ext cx="256032" cy="256032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457200" y="271576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777240" y="269748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Implementasi fitur: nasabah, setoran, saldo, reward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57200" y="3227832"/>
            <a:ext cx="256032" cy="256032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457200" y="322783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777240" y="3209544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Pengujian sistem (Black Box Testing)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57200" y="3739896"/>
            <a:ext cx="256032" cy="256032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457200" y="373989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777240" y="3721608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Menghasilkan aplikasi yang membantu digitalisasi bank sampah Banyumas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572000" y="1097280"/>
            <a:ext cx="4297680" cy="3474720"/>
          </a:xfrm>
          <a:prstGeom prst="roundRect">
            <a:avLst>
              <a:gd fmla="val 3158" name="adj"/>
            </a:avLst>
          </a:prstGeom>
          <a:solidFill>
            <a:srgbClr val="FFFFFF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4572000" y="114300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MANFAAT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709160" y="169164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🏢 Pengelola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709160" y="1984248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Mudah kelola data, efisiensi operasional, laporan cepat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" name="Google Shape;74;p3"/>
          <p:cNvCxnSpPr/>
          <p:nvPr/>
        </p:nvCxnSpPr>
        <p:spPr>
          <a:xfrm>
            <a:off x="4709160" y="2359152"/>
            <a:ext cx="3931920" cy="0"/>
          </a:xfrm>
          <a:prstGeom prst="straightConnector1">
            <a:avLst/>
          </a:prstGeom>
          <a:noFill/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3"/>
          <p:cNvSpPr/>
          <p:nvPr/>
        </p:nvSpPr>
        <p:spPr>
          <a:xfrm>
            <a:off x="4709160" y="2386584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👷 Petugas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709160" y="2679192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Catat setoran lebih cepat, kurangi kesalahan hitung saldo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4709160" y="3054096"/>
            <a:ext cx="3931920" cy="0"/>
          </a:xfrm>
          <a:prstGeom prst="straightConnector1">
            <a:avLst/>
          </a:prstGeom>
          <a:noFill/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3"/>
          <p:cNvSpPr/>
          <p:nvPr/>
        </p:nvSpPr>
        <p:spPr>
          <a:xfrm>
            <a:off x="4709160" y="308152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👤 Nasabah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709160" y="3374136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Akses saldo &amp; riwayat transaksi, tukar reward mudah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" name="Google Shape;80;p3"/>
          <p:cNvCxnSpPr/>
          <p:nvPr/>
        </p:nvCxnSpPr>
        <p:spPr>
          <a:xfrm>
            <a:off x="4709160" y="3749040"/>
            <a:ext cx="3931920" cy="0"/>
          </a:xfrm>
          <a:prstGeom prst="straightConnector1">
            <a:avLst/>
          </a:prstGeom>
          <a:noFill/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" name="Google Shape;81;p3"/>
          <p:cNvSpPr/>
          <p:nvPr/>
        </p:nvSpPr>
        <p:spPr>
          <a:xfrm>
            <a:off x="4709160" y="3776472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📚 Peneliti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709160" y="4069080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Referensi pengembangan sistem informasi berbasis web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9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⚙️  TEKNOLOGI YANG DIGUNAKAN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274320" y="1188720"/>
            <a:ext cx="2743200" cy="16002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1280160" y="1298448"/>
            <a:ext cx="685800" cy="685800"/>
          </a:xfrm>
          <a:prstGeom prst="ellipse">
            <a:avLst/>
          </a:prstGeom>
          <a:solidFill>
            <a:srgbClr val="EAF4EE"/>
          </a:solidFill>
          <a:ln cap="flat" cmpd="sng" w="12700">
            <a:solidFill>
              <a:srgbClr val="EAF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1280160" y="1298448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274320" y="2039112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HTML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384048" y="2359152"/>
            <a:ext cx="25237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Struktur dasar antarmuka pengguna (frontend)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3200400" y="1188720"/>
            <a:ext cx="2743200" cy="16002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4206240" y="1298448"/>
            <a:ext cx="685800" cy="685800"/>
          </a:xfrm>
          <a:prstGeom prst="ellipse">
            <a:avLst/>
          </a:prstGeom>
          <a:solidFill>
            <a:srgbClr val="EAF4EE"/>
          </a:solidFill>
          <a:ln cap="flat" cmpd="sng" w="12700">
            <a:solidFill>
              <a:srgbClr val="EAF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4206240" y="1298448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🎨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3200400" y="2039112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CSS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3310128" y="2359152"/>
            <a:ext cx="25237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Pengatur tampilan dan desain antarmuka visual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126480" y="1188720"/>
            <a:ext cx="2743200" cy="16002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7132320" y="1298448"/>
            <a:ext cx="685800" cy="685800"/>
          </a:xfrm>
          <a:prstGeom prst="ellipse">
            <a:avLst/>
          </a:prstGeom>
          <a:solidFill>
            <a:srgbClr val="EAF4EE"/>
          </a:solidFill>
          <a:ln cap="flat" cmpd="sng" w="12700">
            <a:solidFill>
              <a:srgbClr val="EAF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7132320" y="1298448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📱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126480" y="2039112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Bootstrap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6236208" y="2359152"/>
            <a:ext cx="25237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Framework UI responsif untuk tampilan multi-device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274320" y="3017520"/>
            <a:ext cx="2743200" cy="16002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280160" y="3127248"/>
            <a:ext cx="685800" cy="685800"/>
          </a:xfrm>
          <a:prstGeom prst="ellipse">
            <a:avLst/>
          </a:prstGeom>
          <a:solidFill>
            <a:srgbClr val="EAF4EE"/>
          </a:solidFill>
          <a:ln cap="flat" cmpd="sng" w="12700">
            <a:solidFill>
              <a:srgbClr val="EAF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1280160" y="3127248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🐘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274320" y="3867912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PHP Laravel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384048" y="4187952"/>
            <a:ext cx="25237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Framework backend — logika bisnis &amp; pengolahan 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3200400" y="3017520"/>
            <a:ext cx="2743200" cy="16002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4206240" y="3127248"/>
            <a:ext cx="685800" cy="685800"/>
          </a:xfrm>
          <a:prstGeom prst="ellipse">
            <a:avLst/>
          </a:prstGeom>
          <a:solidFill>
            <a:srgbClr val="EAF4EE"/>
          </a:solidFill>
          <a:ln cap="flat" cmpd="sng" w="12700">
            <a:solidFill>
              <a:srgbClr val="EAF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4206240" y="3127248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🗄️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3200400" y="3867912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3310128" y="4187952"/>
            <a:ext cx="25237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Sistem manajemen basis data relasional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6126480" y="3017520"/>
            <a:ext cx="2743200" cy="16002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7132320" y="3127248"/>
            <a:ext cx="685800" cy="685800"/>
          </a:xfrm>
          <a:prstGeom prst="ellipse">
            <a:avLst/>
          </a:prstGeom>
          <a:solidFill>
            <a:srgbClr val="EAF4EE"/>
          </a:solidFill>
          <a:ln cap="flat" cmpd="sng" w="12700">
            <a:solidFill>
              <a:srgbClr val="EAF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7132320" y="3127248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🔁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6126480" y="3867912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Waterfall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6236208" y="4187952"/>
            <a:ext cx="25237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Metode pengembangan sistematis &amp; berurutan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9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👤  PERAN NASABAH (PENGGUNA)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274320" y="1097280"/>
            <a:ext cx="2743200" cy="3657600"/>
          </a:xfrm>
          <a:prstGeom prst="roundRect">
            <a:avLst>
              <a:gd fmla="val 4000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1097280" y="1280160"/>
            <a:ext cx="1097280" cy="1097280"/>
          </a:xfrm>
          <a:prstGeom prst="ellipse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1097280" y="128016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274320" y="25146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NASABAH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365760" y="2926080"/>
            <a:ext cx="25603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Masyarakat yang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memanfaatkan layanan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tabungan sampah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bank sampah digital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3291840" y="1097280"/>
            <a:ext cx="5577840" cy="3657600"/>
          </a:xfrm>
          <a:prstGeom prst="roundRect">
            <a:avLst>
              <a:gd fmla="val 3000" name="adj"/>
            </a:avLst>
          </a:prstGeom>
          <a:solidFill>
            <a:srgbClr val="FFFFFF"/>
          </a:solidFill>
          <a:ln cap="flat" cmpd="sng" w="1270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3429000" y="1170432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Fitur &amp; Akses Nasabah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5"/>
          <p:cNvCxnSpPr/>
          <p:nvPr/>
        </p:nvCxnSpPr>
        <p:spPr>
          <a:xfrm>
            <a:off x="3429000" y="1572768"/>
            <a:ext cx="5212080" cy="0"/>
          </a:xfrm>
          <a:prstGeom prst="straightConnector1">
            <a:avLst/>
          </a:prstGeom>
          <a:noFill/>
          <a:ln cap="flat" cmpd="sng" w="1270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5"/>
          <p:cNvSpPr/>
          <p:nvPr/>
        </p:nvSpPr>
        <p:spPr>
          <a:xfrm>
            <a:off x="3429000" y="1737360"/>
            <a:ext cx="274320" cy="274320"/>
          </a:xfrm>
          <a:prstGeom prst="ellipse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3429000" y="17373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📝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3767328" y="169164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Registrasi &amp; Login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5440680" y="1691640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Daftar akun baru dan masuk ke sistem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3429000" y="2130552"/>
            <a:ext cx="274320" cy="274320"/>
          </a:xfrm>
          <a:prstGeom prst="ellipse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3429000" y="213055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3767328" y="2084832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Kelola Profil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5440680" y="2084832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Update data dan informasi pribadi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3429000" y="2523744"/>
            <a:ext cx="274320" cy="274320"/>
          </a:xfrm>
          <a:prstGeom prst="ellipse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3429000" y="252374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3767328" y="2478024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Lihat Saldo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5440680" y="2478024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Pantau saldo tabungan sampah secara real-time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3429000" y="2916936"/>
            <a:ext cx="274320" cy="274320"/>
          </a:xfrm>
          <a:prstGeom prst="ellipse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3429000" y="291693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3767328" y="2871216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Riwayat Setoran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5440680" y="2871216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Lihat histori seluruh setoran sampah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3429000" y="3310128"/>
            <a:ext cx="274320" cy="274320"/>
          </a:xfrm>
          <a:prstGeom prst="ellipse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3429000" y="331012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🎁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3767328" y="3264408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Daftar Reward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5440680" y="3264408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Jelajahi reward yang tersedia untuk ditukar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3429000" y="3703320"/>
            <a:ext cx="274320" cy="274320"/>
          </a:xfrm>
          <a:prstGeom prst="ellipse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3429000" y="37033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3767328" y="365760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Tukar Reward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5440680" y="3657600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Ajukan penukaran reward dengan saldo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3429000" y="4096512"/>
            <a:ext cx="274320" cy="274320"/>
          </a:xfrm>
          <a:prstGeom prst="ellipse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3429000" y="409651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🧾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3767328" y="4050792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Riwayat Penukaran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5440680" y="4050792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Pantau histori penukaran reward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9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👷  PERAN PETUGAS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274320" y="1097280"/>
            <a:ext cx="2743200" cy="3657600"/>
          </a:xfrm>
          <a:prstGeom prst="roundRect">
            <a:avLst>
              <a:gd fmla="val 4000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1097280" y="1280160"/>
            <a:ext cx="1097280" cy="1097280"/>
          </a:xfrm>
          <a:prstGeom prst="ellipse">
            <a:avLst/>
          </a:prstGeom>
          <a:solidFill>
            <a:srgbClr val="9333EA"/>
          </a:solidFill>
          <a:ln cap="flat" cmpd="sng" w="12700">
            <a:solidFill>
              <a:srgbClr val="933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1097280" y="128016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👷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274320" y="25146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PETUGAS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365760" y="2926080"/>
            <a:ext cx="25603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D5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9D5FF"/>
                </a:solidFill>
                <a:latin typeface="Calibri"/>
                <a:ea typeface="Calibri"/>
                <a:cs typeface="Calibri"/>
                <a:sym typeface="Calibri"/>
              </a:rPr>
              <a:t>Petugas operasional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D5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9D5FF"/>
                </a:solidFill>
                <a:latin typeface="Calibri"/>
                <a:ea typeface="Calibri"/>
                <a:cs typeface="Calibri"/>
                <a:sym typeface="Calibri"/>
              </a:rPr>
              <a:t>harian yang melayani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D5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9D5FF"/>
                </a:solidFill>
                <a:latin typeface="Calibri"/>
                <a:ea typeface="Calibri"/>
                <a:cs typeface="Calibri"/>
                <a:sym typeface="Calibri"/>
              </a:rPr>
              <a:t>setoran dan transaksi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D5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9D5FF"/>
                </a:solidFill>
                <a:latin typeface="Calibri"/>
                <a:ea typeface="Calibri"/>
                <a:cs typeface="Calibri"/>
                <a:sym typeface="Calibri"/>
              </a:rPr>
              <a:t>nasabah bank sampah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3291840" y="1097280"/>
            <a:ext cx="5577840" cy="3657600"/>
          </a:xfrm>
          <a:prstGeom prst="roundRect">
            <a:avLst>
              <a:gd fmla="val 3000" name="adj"/>
            </a:avLst>
          </a:prstGeom>
          <a:solidFill>
            <a:srgbClr val="FFFFFF"/>
          </a:solidFill>
          <a:ln cap="flat" cmpd="sng" w="12700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3429000" y="1170432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Fitur &amp; Akses Petugas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6"/>
          <p:cNvCxnSpPr/>
          <p:nvPr/>
        </p:nvCxnSpPr>
        <p:spPr>
          <a:xfrm>
            <a:off x="3429000" y="1572768"/>
            <a:ext cx="5212080" cy="0"/>
          </a:xfrm>
          <a:prstGeom prst="straightConnector1">
            <a:avLst/>
          </a:prstGeom>
          <a:noFill/>
          <a:ln cap="flat" cmpd="sng" w="12700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6"/>
          <p:cNvSpPr/>
          <p:nvPr/>
        </p:nvSpPr>
        <p:spPr>
          <a:xfrm>
            <a:off x="3429000" y="1728216"/>
            <a:ext cx="256032" cy="256032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3429000" y="172821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🔐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3749040" y="1691640"/>
            <a:ext cx="1691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Login Sistem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5468112" y="1691640"/>
            <a:ext cx="33101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Akses dengan akun petugas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3429000" y="2075688"/>
            <a:ext cx="256032" cy="256032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3429000" y="207568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3749040" y="2039112"/>
            <a:ext cx="1691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Verifikasi Nasabah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5468112" y="2039112"/>
            <a:ext cx="33101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Cek dan konfirmasi identitas nasabah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3429000" y="2423160"/>
            <a:ext cx="256032" cy="256032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3429000" y="242316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⚖️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3749040" y="2386584"/>
            <a:ext cx="1691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Catat Setoran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5468112" y="2386584"/>
            <a:ext cx="33101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Input jenis &amp; berat sampah yang disetorkan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3429000" y="2770632"/>
            <a:ext cx="256032" cy="256032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3429000" y="277063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🧮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3749040" y="2734056"/>
            <a:ext cx="1691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Hitung Otomatis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5468112" y="2734056"/>
            <a:ext cx="33101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Nilai transaksi dihitung sistem secara otomatis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3429000" y="3118104"/>
            <a:ext cx="256032" cy="256032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3429000" y="311810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💳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3749040" y="3081528"/>
            <a:ext cx="1691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Tambah Saldo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5468112" y="3081528"/>
            <a:ext cx="33101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Update saldo nasabah setelah setoran diterima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3429000" y="3465576"/>
            <a:ext cx="256032" cy="256032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3429000" y="346557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🎁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3749040" y="3429000"/>
            <a:ext cx="1691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Proses Reward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5468112" y="3429000"/>
            <a:ext cx="33101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Eksekusi penukaran reward yang diajukan nasabah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3429000" y="3813048"/>
            <a:ext cx="256032" cy="256032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3429000" y="381304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3749040" y="3776472"/>
            <a:ext cx="1691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Riwayat Transaksi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5468112" y="3776472"/>
            <a:ext cx="33101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Lihat histori semua transaksi yang diproses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3429000" y="4160520"/>
            <a:ext cx="256032" cy="256032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3429000" y="416052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➕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3749040" y="4123944"/>
            <a:ext cx="1691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Daftar Nasabah Baru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5468112" y="4123944"/>
            <a:ext cx="33101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Bantu pendaftaran nasabah baru jika diperlukan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9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🛡️  PERAN ADMIN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274320" y="1097280"/>
            <a:ext cx="2743200" cy="3657600"/>
          </a:xfrm>
          <a:prstGeom prst="roundRect">
            <a:avLst>
              <a:gd fmla="val 4000" name="adj"/>
            </a:avLst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1097280" y="1280160"/>
            <a:ext cx="1097280" cy="1097280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1097280" y="128016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🛡️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274320" y="25146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365760" y="2926080"/>
            <a:ext cx="25603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ECAC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ECACA"/>
                </a:solidFill>
                <a:latin typeface="Calibri"/>
                <a:ea typeface="Calibri"/>
                <a:cs typeface="Calibri"/>
                <a:sym typeface="Calibri"/>
              </a:rPr>
              <a:t>Pengelola sistem dengan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ECAC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ECACA"/>
                </a:solidFill>
                <a:latin typeface="Calibri"/>
                <a:ea typeface="Calibri"/>
                <a:cs typeface="Calibri"/>
                <a:sym typeface="Calibri"/>
              </a:rPr>
              <a:t>hak akses penuh 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ECAC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ECACA"/>
                </a:solidFill>
                <a:latin typeface="Calibri"/>
                <a:ea typeface="Calibri"/>
                <a:cs typeface="Calibri"/>
                <a:sym typeface="Calibri"/>
              </a:rPr>
              <a:t>mengontrol data master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ECAC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ECACA"/>
                </a:solidFill>
                <a:latin typeface="Calibri"/>
                <a:ea typeface="Calibri"/>
                <a:cs typeface="Calibri"/>
                <a:sym typeface="Calibri"/>
              </a:rPr>
              <a:t>dan laporan sistem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3291840" y="1097280"/>
            <a:ext cx="5577840" cy="3657600"/>
          </a:xfrm>
          <a:prstGeom prst="roundRect">
            <a:avLst>
              <a:gd fmla="val 3000" name="adj"/>
            </a:avLst>
          </a:prstGeom>
          <a:solidFill>
            <a:srgbClr val="FFFFFF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3429000" y="1170432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Fitur &amp; Akses Admin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7"/>
          <p:cNvCxnSpPr/>
          <p:nvPr/>
        </p:nvCxnSpPr>
        <p:spPr>
          <a:xfrm>
            <a:off x="3429000" y="1572768"/>
            <a:ext cx="5212080" cy="0"/>
          </a:xfrm>
          <a:prstGeom prst="straightConnector1">
            <a:avLst/>
          </a:prstGeom>
          <a:noFill/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7"/>
          <p:cNvSpPr/>
          <p:nvPr/>
        </p:nvSpPr>
        <p:spPr>
          <a:xfrm>
            <a:off x="3429000" y="1728216"/>
            <a:ext cx="256032" cy="256032"/>
          </a:xfrm>
          <a:prstGeom prst="ellipse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3429000" y="172821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🔐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3749040" y="1691640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Login &amp; Dashboard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5623560" y="1691640"/>
            <a:ext cx="3154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Akses penuh ke seluruh fitur sistem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3429000" y="2075688"/>
            <a:ext cx="256032" cy="256032"/>
          </a:xfrm>
          <a:prstGeom prst="ellipse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3429000" y="207568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👥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3749040" y="2039112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Kelola Nasabah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5623560" y="2039112"/>
            <a:ext cx="3154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CRUD data nasabah bank sampah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3429000" y="2423160"/>
            <a:ext cx="256032" cy="256032"/>
          </a:xfrm>
          <a:prstGeom prst="ellipse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3429000" y="242316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👷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3749040" y="2386584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Kelola Petugas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5623560" y="2386584"/>
            <a:ext cx="3154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Manajemen akun dan data petugas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3429000" y="2770632"/>
            <a:ext cx="256032" cy="256032"/>
          </a:xfrm>
          <a:prstGeom prst="ellipse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3429000" y="277063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♻️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3749040" y="2734056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Kelola Jenis Sampah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5623560" y="2734056"/>
            <a:ext cx="3154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Atur kategori &amp; daftar jenis sampah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3429000" y="3118104"/>
            <a:ext cx="256032" cy="256032"/>
          </a:xfrm>
          <a:prstGeom prst="ellipse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3429000" y="311810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💲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3749040" y="3081528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Kelola Harga Sampah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5623560" y="3081528"/>
            <a:ext cx="3154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Set harga per kg tiap jenis sampah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3429000" y="3465576"/>
            <a:ext cx="256032" cy="256032"/>
          </a:xfrm>
          <a:prstGeom prst="ellipse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3429000" y="346557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🎁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3749040" y="3429000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Kelola Reward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5623560" y="3429000"/>
            <a:ext cx="3154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Atur kategori dan daftar reward tersedia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3429000" y="3813048"/>
            <a:ext cx="256032" cy="256032"/>
          </a:xfrm>
          <a:prstGeom prst="ellipse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3429000" y="381304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3749040" y="3776472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Monitor Transaksi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5623560" y="3776472"/>
            <a:ext cx="3154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Pantau seluruh setoran &amp; penukaran reward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3429000" y="4160520"/>
            <a:ext cx="256032" cy="256032"/>
          </a:xfrm>
          <a:prstGeom prst="ellipse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3429000" y="416052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📄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3749040" y="4123944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Laporan &amp; Statistik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5623560" y="4123944"/>
            <a:ext cx="3154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Cetak laporan dan lihat rekapitulasi kegiatan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9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🔄  ALUR SISTEM — NASABAH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274320" y="1188720"/>
            <a:ext cx="1170432" cy="1097280"/>
          </a:xfrm>
          <a:prstGeom prst="roundRect">
            <a:avLst>
              <a:gd fmla="val 8333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274320" y="1216152"/>
            <a:ext cx="1170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274320" y="1691640"/>
            <a:ext cx="1170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Registrasi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1444752" y="155448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1581912" y="1188720"/>
            <a:ext cx="1170432" cy="1097280"/>
          </a:xfrm>
          <a:prstGeom prst="roundRect">
            <a:avLst>
              <a:gd fmla="val 8333" name="adj"/>
            </a:avLst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1581912" y="1216152"/>
            <a:ext cx="1170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1581912" y="1691640"/>
            <a:ext cx="1170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2752344" y="155448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2889504" y="1188720"/>
            <a:ext cx="1170432" cy="1097280"/>
          </a:xfrm>
          <a:prstGeom prst="roundRect">
            <a:avLst>
              <a:gd fmla="val 8333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2889504" y="1216152"/>
            <a:ext cx="1170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2889504" y="1691640"/>
            <a:ext cx="1170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4059936" y="155448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4197096" y="1188720"/>
            <a:ext cx="1170432" cy="1097280"/>
          </a:xfrm>
          <a:prstGeom prst="roundRect">
            <a:avLst>
              <a:gd fmla="val 8333" name="adj"/>
            </a:avLst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4197096" y="1216152"/>
            <a:ext cx="1170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4197096" y="1691640"/>
            <a:ext cx="1170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Lihat Saldo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5367528" y="155448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5504688" y="1188720"/>
            <a:ext cx="1170432" cy="1097280"/>
          </a:xfrm>
          <a:prstGeom prst="roundRect">
            <a:avLst>
              <a:gd fmla="val 8333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"/>
          <p:cNvSpPr/>
          <p:nvPr/>
        </p:nvSpPr>
        <p:spPr>
          <a:xfrm>
            <a:off x="5504688" y="1216152"/>
            <a:ext cx="1170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5504688" y="1691640"/>
            <a:ext cx="1170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Pilih Reward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6675120" y="155448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6812280" y="1188720"/>
            <a:ext cx="1170432" cy="1097280"/>
          </a:xfrm>
          <a:prstGeom prst="roundRect">
            <a:avLst>
              <a:gd fmla="val 8333" name="adj"/>
            </a:avLst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6812280" y="1216152"/>
            <a:ext cx="1170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6812280" y="1691640"/>
            <a:ext cx="1170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Ajukan Tukar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7982712" y="155448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8119872" y="1188720"/>
            <a:ext cx="1170432" cy="1097280"/>
          </a:xfrm>
          <a:prstGeom prst="roundRect">
            <a:avLst>
              <a:gd fmla="val 8333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8119872" y="1216152"/>
            <a:ext cx="1170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8119872" y="1691640"/>
            <a:ext cx="1170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Konfirmasi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274320" y="2514600"/>
            <a:ext cx="8595360" cy="2286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457200" y="25786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Detail Alur Nasabah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457200" y="2971800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📝 Registrasi  —  Nasabah mendaftar dengan mengisi data diri (nama lengkap, alamat email, </a:t>
            </a:r>
            <a:r>
              <a:rPr lang="en-US" sz="9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nomor hp dan password</a:t>
            </a: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.)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4754880" y="2971800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🔐 Login  —  Masuk sistem menggunakan email &amp; password yang terdaftar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457200" y="3474720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🏠 Dashboard  —  Melihat ringkasan: saldo, transaksi terbaru, reward tersedia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4754880" y="3474720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💰 Saldo &amp; Riwayat  —  Pantau saldo tabungan &amp; riwayat seluruh setoran sampah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457200" y="3977640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🎁 Tukar Reward  —  Pilih reward dari katalog → ajukan penukaran → tunggu konfirmasi petugas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9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9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🔄  ALUR SISTEM — PETUGAS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274320" y="1188720"/>
            <a:ext cx="1170432" cy="1097280"/>
          </a:xfrm>
          <a:prstGeom prst="roundRect">
            <a:avLst>
              <a:gd fmla="val 8333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9"/>
          <p:cNvSpPr/>
          <p:nvPr/>
        </p:nvSpPr>
        <p:spPr>
          <a:xfrm>
            <a:off x="274320" y="1216152"/>
            <a:ext cx="1170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274320" y="1691640"/>
            <a:ext cx="1170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1444752" y="155448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1581912" y="1188720"/>
            <a:ext cx="1170432" cy="1097280"/>
          </a:xfrm>
          <a:prstGeom prst="roundRect">
            <a:avLst>
              <a:gd fmla="val 8333" name="adj"/>
            </a:avLst>
          </a:prstGeom>
          <a:solidFill>
            <a:srgbClr val="9333EA"/>
          </a:solidFill>
          <a:ln cap="flat" cmpd="sng" w="12700">
            <a:solidFill>
              <a:srgbClr val="9333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9"/>
          <p:cNvSpPr/>
          <p:nvPr/>
        </p:nvSpPr>
        <p:spPr>
          <a:xfrm>
            <a:off x="1581912" y="1216152"/>
            <a:ext cx="1170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1581912" y="1691640"/>
            <a:ext cx="1170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Cari Nasabah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2752344" y="155448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2889504" y="1188720"/>
            <a:ext cx="1170432" cy="1097280"/>
          </a:xfrm>
          <a:prstGeom prst="roundRect">
            <a:avLst>
              <a:gd fmla="val 8333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9"/>
          <p:cNvSpPr/>
          <p:nvPr/>
        </p:nvSpPr>
        <p:spPr>
          <a:xfrm>
            <a:off x="2889504" y="1216152"/>
            <a:ext cx="1170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⚖️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2889504" y="1691640"/>
            <a:ext cx="1170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 Sampah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4059936" y="155448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4197096" y="1188720"/>
            <a:ext cx="1170432" cy="1097280"/>
          </a:xfrm>
          <a:prstGeom prst="roundRect">
            <a:avLst>
              <a:gd fmla="val 8333" name="adj"/>
            </a:avLst>
          </a:prstGeom>
          <a:solidFill>
            <a:srgbClr val="9333EA"/>
          </a:solidFill>
          <a:ln cap="flat" cmpd="sng" w="12700">
            <a:solidFill>
              <a:srgbClr val="9333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9"/>
          <p:cNvSpPr/>
          <p:nvPr/>
        </p:nvSpPr>
        <p:spPr>
          <a:xfrm>
            <a:off x="4197096" y="1216152"/>
            <a:ext cx="1170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🧮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4197096" y="1691640"/>
            <a:ext cx="1170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Hitung Nilai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5367528" y="155448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5504688" y="1188720"/>
            <a:ext cx="1170432" cy="1097280"/>
          </a:xfrm>
          <a:prstGeom prst="roundRect">
            <a:avLst>
              <a:gd fmla="val 8333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5504688" y="1216152"/>
            <a:ext cx="1170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💾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5504688" y="1691640"/>
            <a:ext cx="1170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Simpan Setoran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6675120" y="155448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6812280" y="1188720"/>
            <a:ext cx="1170432" cy="1097280"/>
          </a:xfrm>
          <a:prstGeom prst="roundRect">
            <a:avLst>
              <a:gd fmla="val 8333" name="adj"/>
            </a:avLst>
          </a:prstGeom>
          <a:solidFill>
            <a:srgbClr val="9333EA"/>
          </a:solidFill>
          <a:ln cap="flat" cmpd="sng" w="12700">
            <a:solidFill>
              <a:srgbClr val="9333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6812280" y="1216152"/>
            <a:ext cx="1170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6812280" y="1691640"/>
            <a:ext cx="1170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Update Saldo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7982712" y="155448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8119872" y="1188720"/>
            <a:ext cx="1170432" cy="1097280"/>
          </a:xfrm>
          <a:prstGeom prst="roundRect">
            <a:avLst>
              <a:gd fmla="val 8333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9"/>
          <p:cNvSpPr/>
          <p:nvPr/>
        </p:nvSpPr>
        <p:spPr>
          <a:xfrm>
            <a:off x="8119872" y="1216152"/>
            <a:ext cx="1170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8119872" y="1691640"/>
            <a:ext cx="1170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Proses Reward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274320" y="2514600"/>
            <a:ext cx="8595360" cy="2286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9"/>
          <p:cNvSpPr/>
          <p:nvPr/>
        </p:nvSpPr>
        <p:spPr>
          <a:xfrm>
            <a:off x="457200" y="25786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Detail Alur Petugas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457200" y="2971800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🔐 Login  —  Petugas masuk ke sistem dengan akun petugas yang telah dibuat admin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4754880" y="2971800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🔍 Cari Nasabah  —  Verifikasi identitas nasabah melalui pencarian nama atau 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457200" y="3474720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⚖️ Input Setoran  —  Pilih jenis sampah dan masukkan berat (kg) yang disetorkan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4754880" y="3474720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🧮 Hitung Otomatis  —  Sistem menghitung nilai: berat × harga per kg → total nilai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457200" y="3977640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💳 Update &amp; Reward  —  Saldo nasabah otomatis bertambah; petugas proses penukaran reward jika ada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9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0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🔄  ALUR SISTEM — ADMIN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274320" y="1188720"/>
            <a:ext cx="1170432" cy="1097280"/>
          </a:xfrm>
          <a:prstGeom prst="roundRect">
            <a:avLst>
              <a:gd fmla="val 8333" name="adj"/>
            </a:avLst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0"/>
          <p:cNvSpPr/>
          <p:nvPr/>
        </p:nvSpPr>
        <p:spPr>
          <a:xfrm>
            <a:off x="274320" y="1216152"/>
            <a:ext cx="1170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274320" y="1691640"/>
            <a:ext cx="1170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1444752" y="155448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1581912" y="1188720"/>
            <a:ext cx="1170432" cy="1097280"/>
          </a:xfrm>
          <a:prstGeom prst="roundRect">
            <a:avLst>
              <a:gd fmla="val 8333" name="adj"/>
            </a:avLst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0"/>
          <p:cNvSpPr/>
          <p:nvPr/>
        </p:nvSpPr>
        <p:spPr>
          <a:xfrm>
            <a:off x="1581912" y="1216152"/>
            <a:ext cx="1170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1581912" y="1691640"/>
            <a:ext cx="1170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2752344" y="155448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2889504" y="1188720"/>
            <a:ext cx="1170432" cy="1097280"/>
          </a:xfrm>
          <a:prstGeom prst="roundRect">
            <a:avLst>
              <a:gd fmla="val 8333" name="adj"/>
            </a:avLst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0"/>
          <p:cNvSpPr/>
          <p:nvPr/>
        </p:nvSpPr>
        <p:spPr>
          <a:xfrm>
            <a:off x="2889504" y="1216152"/>
            <a:ext cx="1170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2889504" y="1691640"/>
            <a:ext cx="1170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Kelola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4059936" y="155448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4197096" y="1188720"/>
            <a:ext cx="1170432" cy="1097280"/>
          </a:xfrm>
          <a:prstGeom prst="roundRect">
            <a:avLst>
              <a:gd fmla="val 8333" name="adj"/>
            </a:avLst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0"/>
          <p:cNvSpPr/>
          <p:nvPr/>
        </p:nvSpPr>
        <p:spPr>
          <a:xfrm>
            <a:off x="4197096" y="1216152"/>
            <a:ext cx="1170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4197096" y="1691640"/>
            <a:ext cx="1170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Monitor Tx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5367528" y="155448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5504688" y="1188720"/>
            <a:ext cx="1170432" cy="1097280"/>
          </a:xfrm>
          <a:prstGeom prst="roundRect">
            <a:avLst>
              <a:gd fmla="val 8333" name="adj"/>
            </a:avLst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0"/>
          <p:cNvSpPr/>
          <p:nvPr/>
        </p:nvSpPr>
        <p:spPr>
          <a:xfrm>
            <a:off x="5504688" y="1216152"/>
            <a:ext cx="1170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5504688" y="1691640"/>
            <a:ext cx="1170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Kelola Reward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6675120" y="155448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6812280" y="1188720"/>
            <a:ext cx="1170432" cy="1097280"/>
          </a:xfrm>
          <a:prstGeom prst="roundRect">
            <a:avLst>
              <a:gd fmla="val 8333" name="adj"/>
            </a:avLst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0"/>
          <p:cNvSpPr/>
          <p:nvPr/>
        </p:nvSpPr>
        <p:spPr>
          <a:xfrm>
            <a:off x="6812280" y="1216152"/>
            <a:ext cx="1170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6812280" y="1691640"/>
            <a:ext cx="1170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Laporan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7982712" y="155448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8119872" y="1188720"/>
            <a:ext cx="1170432" cy="1097280"/>
          </a:xfrm>
          <a:prstGeom prst="roundRect">
            <a:avLst>
              <a:gd fmla="val 8333" name="adj"/>
            </a:avLst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0"/>
          <p:cNvSpPr/>
          <p:nvPr/>
        </p:nvSpPr>
        <p:spPr>
          <a:xfrm>
            <a:off x="8119872" y="1216152"/>
            <a:ext cx="1170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8119872" y="1691640"/>
            <a:ext cx="1170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Statistik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274320" y="2514600"/>
            <a:ext cx="8595360" cy="2286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0"/>
          <p:cNvSpPr/>
          <p:nvPr/>
        </p:nvSpPr>
        <p:spPr>
          <a:xfrm>
            <a:off x="457200" y="25786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Detail Alur Admin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457200" y="2971800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🔐 Login  —  Admin masuk dengan akun superuser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4754880" y="2971800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⚙️ Kelola Data Master  —  Atur data nasabah, petugas, jenis sampah, dan harga sampah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457200" y="3474720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🎁 Kelola Reward  —  Tambah/edit kategori reward dan stok reward yang tersedia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4754880" y="3474720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📋 Monitor Transaksi  —  Lihat seluruh setoran sampah dan penukaran reward secara real-time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457200" y="3977640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📄 Laporan &amp; Statistik  —  Cetak laporan transaksi &amp; lihat statistik rekapitulasi kegiatan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g3f223f49e24_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32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2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2D6A4F">
              <a:alpha val="34901"/>
            </a:srgbClr>
          </a:solidFill>
          <a:ln cap="flat" cmpd="sng" w="12700">
            <a:solidFill>
              <a:srgbClr val="2D6A4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2"/>
          <p:cNvSpPr/>
          <p:nvPr/>
        </p:nvSpPr>
        <p:spPr>
          <a:xfrm>
            <a:off x="7315200" y="-457200"/>
            <a:ext cx="2286000" cy="2286000"/>
          </a:xfrm>
          <a:prstGeom prst="ellipse">
            <a:avLst/>
          </a:prstGeom>
          <a:solidFill>
            <a:srgbClr val="52B788">
              <a:alpha val="40000"/>
            </a:srgbClr>
          </a:solidFill>
          <a:ln cap="flat" cmpd="sng" w="12700">
            <a:solidFill>
              <a:srgbClr val="52B7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💡  KESIMPULAN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457200" y="822960"/>
            <a:ext cx="2743200" cy="4572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2"/>
          <p:cNvSpPr/>
          <p:nvPr/>
        </p:nvSpPr>
        <p:spPr>
          <a:xfrm>
            <a:off x="365760" y="1005840"/>
            <a:ext cx="4114800" cy="1645920"/>
          </a:xfrm>
          <a:prstGeom prst="roundRect">
            <a:avLst>
              <a:gd fmla="val 6667" name="adj"/>
            </a:avLst>
          </a:prstGeom>
          <a:solidFill>
            <a:srgbClr val="2D6A4F">
              <a:alpha val="30196"/>
            </a:srgbClr>
          </a:solidFill>
          <a:ln cap="flat" cmpd="sng" w="12700">
            <a:solidFill>
              <a:srgbClr val="52B788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2"/>
          <p:cNvSpPr/>
          <p:nvPr/>
        </p:nvSpPr>
        <p:spPr>
          <a:xfrm>
            <a:off x="475488" y="1115568"/>
            <a:ext cx="457200" cy="457200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2"/>
          <p:cNvSpPr/>
          <p:nvPr/>
        </p:nvSpPr>
        <p:spPr>
          <a:xfrm>
            <a:off x="475488" y="11155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1005840" y="109728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Sistem Terintegrasi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502920" y="1536192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Aplikasi Bank Sampah Digital berhasil mengintegrasikan fungsi administrasi, transaksi setoran sampah, pengelolaan saldo, dan penukaran reward dalam satu platform web.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4754880" y="1005840"/>
            <a:ext cx="4114800" cy="1645920"/>
          </a:xfrm>
          <a:prstGeom prst="roundRect">
            <a:avLst>
              <a:gd fmla="val 6667" name="adj"/>
            </a:avLst>
          </a:prstGeom>
          <a:solidFill>
            <a:srgbClr val="2D6A4F">
              <a:alpha val="30196"/>
            </a:srgbClr>
          </a:solidFill>
          <a:ln cap="flat" cmpd="sng" w="12700">
            <a:solidFill>
              <a:srgbClr val="52B788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2"/>
          <p:cNvSpPr/>
          <p:nvPr/>
        </p:nvSpPr>
        <p:spPr>
          <a:xfrm>
            <a:off x="4864608" y="1115568"/>
            <a:ext cx="457200" cy="457200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2"/>
          <p:cNvSpPr/>
          <p:nvPr/>
        </p:nvSpPr>
        <p:spPr>
          <a:xfrm>
            <a:off x="4864608" y="11155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👥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5394960" y="109728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Tiga Peran Terstruktur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4892040" y="1536192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Sistem mendukung tiga peran utama: Nasabah (tabungan &amp; reward), Petugas (operasional harian), dan Admin (manajemen &amp; laporan) dengan hak akses yang sesuai.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365760" y="2926080"/>
            <a:ext cx="4114800" cy="1645920"/>
          </a:xfrm>
          <a:prstGeom prst="roundRect">
            <a:avLst>
              <a:gd fmla="val 6667" name="adj"/>
            </a:avLst>
          </a:prstGeom>
          <a:solidFill>
            <a:srgbClr val="2D6A4F">
              <a:alpha val="30196"/>
            </a:srgbClr>
          </a:solidFill>
          <a:ln cap="flat" cmpd="sng" w="12700">
            <a:solidFill>
              <a:srgbClr val="52B788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2"/>
          <p:cNvSpPr/>
          <p:nvPr/>
        </p:nvSpPr>
        <p:spPr>
          <a:xfrm>
            <a:off x="475488" y="3035808"/>
            <a:ext cx="457200" cy="457200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2"/>
          <p:cNvSpPr/>
          <p:nvPr/>
        </p:nvSpPr>
        <p:spPr>
          <a:xfrm>
            <a:off x="475488" y="30358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1005840" y="301752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Metode Waterfall Terstruktur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502920" y="3456432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Pengembangan menggunakan metode Waterfall (analisis → desain → implementasi → pengujian → maintenance) menghasilkan sistem yang terstruktur dan terdokumentasi baik.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4754880" y="2926080"/>
            <a:ext cx="4114800" cy="1645920"/>
          </a:xfrm>
          <a:prstGeom prst="roundRect">
            <a:avLst>
              <a:gd fmla="val 6667" name="adj"/>
            </a:avLst>
          </a:prstGeom>
          <a:solidFill>
            <a:srgbClr val="2D6A4F">
              <a:alpha val="30196"/>
            </a:srgbClr>
          </a:solidFill>
          <a:ln cap="flat" cmpd="sng" w="12700">
            <a:solidFill>
              <a:srgbClr val="52B788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2"/>
          <p:cNvSpPr/>
          <p:nvPr/>
        </p:nvSpPr>
        <p:spPr>
          <a:xfrm>
            <a:off x="4864608" y="3035808"/>
            <a:ext cx="457200" cy="457200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2"/>
          <p:cNvSpPr/>
          <p:nvPr/>
        </p:nvSpPr>
        <p:spPr>
          <a:xfrm>
            <a:off x="4864608" y="30358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🌿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5394960" y="301752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Dampak Lingkungan &amp; Sosial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4892040" y="3456432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Sistem mendukung digitalisasi bank sampah di Banyumas, meningkatkan transparansi, efisiensi operasional, dan partisipasi masyarakat dalam ekonomi sirkular.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2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Bank Sampah Digital — Solusi Cerdas untuk Pengelolaan Sampah yang Lebih Baik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2026-06-20T05:49:38Z</dcterms:created>
  <dc:creator>PptxGenJS</dc:creator>
</cp:coreProperties>
</file>